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33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77724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132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507492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607040" y="516636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0" y="5166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0" y="1828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CSE440 — ARTIFICIAL INTELLIGENCE  ·  GROUP PROJECT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9978" y="2720340"/>
            <a:ext cx="108520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i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Poker Game Simulator Driven by </a:t>
            </a:r>
            <a:r>
              <a:rPr lang="en-US" sz="3600" i="1" dirty="0" err="1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Expectiminimax</a:t>
            </a:r>
            <a:r>
              <a:rPr lang="en-US" sz="3600" i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</a:t>
            </a:r>
            <a:endParaRPr lang="en-US" sz="3600" dirty="0"/>
          </a:p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15" name="Text 13"/>
          <p:cNvSpPr txBox="1"/>
          <p:nvPr/>
        </p:nvSpPr>
        <p:spPr>
          <a:xfrm>
            <a:off x="4063804" y="2868710"/>
            <a:ext cx="4383845" cy="1791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Kazi Refaet Ullah 2131510642</a:t>
            </a:r>
          </a:p>
          <a:p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Samiul Ahamed Fhyas 2013221642</a:t>
            </a:r>
          </a:p>
          <a:p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3: Md </a:t>
            </a:r>
            <a:r>
              <a:rPr lang="en-US" sz="1400" b="1" dirty="0" err="1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Asaduzzaman</a:t>
            </a:r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Limon 1931374042</a:t>
            </a:r>
          </a:p>
          <a:p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4: sharia </a:t>
            </a:r>
            <a:r>
              <a:rPr lang="en-US" sz="1400" b="1" dirty="0" err="1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sakib</a:t>
            </a:r>
            <a:r>
              <a:rPr lang="en-US" sz="14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2021270642</a:t>
            </a:r>
            <a:endParaRPr lang="en-US" sz="1400" dirty="0"/>
          </a:p>
          <a:p>
            <a:pPr algn="ctr"/>
            <a:endParaRPr lang="en-US" sz="1300" dirty="0"/>
          </a:p>
          <a:p>
            <a:pPr algn="ctr"/>
            <a:endParaRPr lang="en-US" sz="1300" b="1" dirty="0">
              <a:solidFill>
                <a:srgbClr val="F3EA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300" b="1" dirty="0">
              <a:solidFill>
                <a:srgbClr val="F3EA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75720" y="40233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151792" y="1225297"/>
            <a:ext cx="9821008" cy="4233144"/>
          </a:xfrm>
          <a:prstGeom prst="roundRect">
            <a:avLst>
              <a:gd name="adj" fmla="val 9091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704D4757-C480-99DE-3184-DE9AC70667D2}"/>
              </a:ext>
            </a:extLst>
          </p:cNvPr>
          <p:cNvSpPr txBox="1"/>
          <p:nvPr/>
        </p:nvSpPr>
        <p:spPr>
          <a:xfrm>
            <a:off x="1336430" y="1399558"/>
            <a:ext cx="9636369" cy="3752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AI Poker Arena is a poker simulation and AI decision-making project designed to demonstrate how artificial intelligence can make strategic decisions under uncertainty and hidden information.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Game Simulation: </a:t>
            </a:r>
            <a:r>
              <a:rPr lang="en-US" sz="1600" dirty="0">
                <a:solidFill>
                  <a:schemeClr val="bg1"/>
                </a:solidFill>
              </a:rPr>
              <a:t>Models poker states, cards, betting, legal actions, and outcomes.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AI Decision-Making: </a:t>
            </a:r>
            <a:r>
              <a:rPr lang="en-US" sz="1600" dirty="0">
                <a:solidFill>
                  <a:schemeClr val="bg1"/>
                </a:solidFill>
              </a:rPr>
              <a:t>Uses </a:t>
            </a:r>
            <a:r>
              <a:rPr lang="en-US" sz="1600" dirty="0" err="1">
                <a:solidFill>
                  <a:schemeClr val="bg1"/>
                </a:solidFill>
              </a:rPr>
              <a:t>Expectiminimax</a:t>
            </a:r>
            <a:r>
              <a:rPr lang="en-US" sz="1600" dirty="0">
                <a:solidFill>
                  <a:schemeClr val="bg1"/>
                </a:solidFill>
              </a:rPr>
              <a:t> with MAX, MIN, and CHANCE nodes to evaluate possible actions.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Hidden Information: </a:t>
            </a:r>
            <a:r>
              <a:rPr lang="en-US" sz="1600" dirty="0">
                <a:solidFill>
                  <a:schemeClr val="bg1"/>
                </a:solidFill>
              </a:rPr>
              <a:t>Considers possible opponent cards instead of directly accessing hidden information.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Multi-Agent Application: </a:t>
            </a:r>
            <a:r>
              <a:rPr lang="en-US" sz="1600" dirty="0">
                <a:solidFill>
                  <a:schemeClr val="bg1"/>
                </a:solidFill>
              </a:rPr>
              <a:t>Provides an interactive four-player Texas </a:t>
            </a:r>
            <a:r>
              <a:rPr lang="en-US" sz="1600" dirty="0" err="1">
                <a:solidFill>
                  <a:schemeClr val="bg1"/>
                </a:solidFill>
              </a:rPr>
              <a:t>Hold’em</a:t>
            </a:r>
            <a:r>
              <a:rPr lang="en-US" sz="1600" dirty="0">
                <a:solidFill>
                  <a:schemeClr val="bg1"/>
                </a:solidFill>
              </a:rPr>
              <a:t> environment with a human player and three AI opponents.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Evaluation: </a:t>
            </a:r>
            <a:r>
              <a:rPr lang="en-US" sz="1600" dirty="0">
                <a:solidFill>
                  <a:schemeClr val="bg1"/>
                </a:solidFill>
              </a:rPr>
              <a:t>Compares AI strategies through repeated simulations using performance metrics such as net chips, runtime, and nodes expanded.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7B85E85C-C73E-E699-8B93-9615B5B151C8}"/>
              </a:ext>
            </a:extLst>
          </p:cNvPr>
          <p:cNvSpPr txBox="1"/>
          <p:nvPr/>
        </p:nvSpPr>
        <p:spPr>
          <a:xfrm>
            <a:off x="1336430" y="260815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9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699AA70A-7D68-8C7B-A7EF-28721FA0393D}"/>
              </a:ext>
            </a:extLst>
          </p:cNvPr>
          <p:cNvSpPr txBox="1"/>
          <p:nvPr/>
        </p:nvSpPr>
        <p:spPr>
          <a:xfrm>
            <a:off x="1336430" y="21367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9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BB38E711-4FF9-3004-510F-7F7A33CBC865}"/>
              </a:ext>
            </a:extLst>
          </p:cNvPr>
          <p:cNvSpPr txBox="1"/>
          <p:nvPr/>
        </p:nvSpPr>
        <p:spPr>
          <a:xfrm>
            <a:off x="1343463" y="3096539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9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5E539026-3334-4266-6A7B-0C333499C730}"/>
              </a:ext>
            </a:extLst>
          </p:cNvPr>
          <p:cNvSpPr txBox="1"/>
          <p:nvPr/>
        </p:nvSpPr>
        <p:spPr>
          <a:xfrm>
            <a:off x="1336429" y="434977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4E7EEDAE-2B39-510C-90ED-7036EA9A18F8}"/>
              </a:ext>
            </a:extLst>
          </p:cNvPr>
          <p:cNvSpPr txBox="1"/>
          <p:nvPr/>
        </p:nvSpPr>
        <p:spPr>
          <a:xfrm>
            <a:off x="1343463" y="3581153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200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System Works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C9A5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64208"/>
            <a:ext cx="35362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State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1540" y="2217420"/>
            <a:ext cx="505206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players, bets, and current game state are initialized.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actions are generated for the current player.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581912"/>
            <a:ext cx="594360" cy="5943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C9A5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696212"/>
            <a:ext cx="316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Decision Making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68063"/>
            <a:ext cx="4892040" cy="926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dirty="0" err="1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Expectiminimax</a:t>
            </a: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algorithm explores possible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evaluates the AI’s choices.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considers the opponent’s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evaluates possible card outcomes.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416552"/>
            <a:ext cx="594360" cy="5943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C9A5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16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30852"/>
            <a:ext cx="23580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Selection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" y="522861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possible outcome is evaluated using expected utility.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reduces unnecessary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selects the best available action.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416552"/>
            <a:ext cx="594360" cy="5943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C9A5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416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5308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Execution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193791"/>
            <a:ext cx="5029200" cy="73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action is applied to the poker game.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state is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continues until fold or showdown.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69277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AI: EXPECTIMINIMAX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3880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dirty="0" err="1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Expectiminimax</a:t>
            </a:r>
            <a:r>
              <a:rPr lang="en-US" sz="13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evaluates possible actions while considering both </a:t>
            </a: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decisions </a:t>
            </a:r>
            <a:r>
              <a:rPr lang="en-US" sz="13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card outcomes</a:t>
            </a:r>
            <a:r>
              <a:rPr lang="en-US" sz="13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7720" y="2941906"/>
            <a:ext cx="4663440" cy="222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chooses the best action</a:t>
            </a:r>
          </a:p>
          <a:p>
            <a:pPr>
              <a:buSzPct val="100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is modeled as an adversarial player</a:t>
            </a:r>
          </a:p>
          <a:p>
            <a:pPr>
              <a:buSzPct val="100000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3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board cards are considered according to their probabilities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39840" y="2674620"/>
            <a:ext cx="5105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C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does not directly peek at the opponent's actual card.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097530"/>
            <a:ext cx="4846320" cy="217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Generates possible opponent cards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Assigns probabilities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Evaluates each possibility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Calculates expected value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Selects the highest-scoring action</a:t>
            </a:r>
          </a:p>
          <a:p>
            <a:pPr>
              <a:buSzPct val="100000"/>
            </a:pPr>
            <a:r>
              <a:rPr lang="en-US" b="1" dirty="0">
                <a:solidFill>
                  <a:schemeClr val="bg1"/>
                </a:solidFill>
              </a:rPr>
              <a:t>Optimization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Alpha-Beta Pruning reduces unnecessary branches during search</a:t>
            </a:r>
            <a:r>
              <a:rPr lang="en-US" sz="13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&amp; EXPERIMENTS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82746F7-0235-93FB-CA54-EC1F82DF685E}"/>
              </a:ext>
            </a:extLst>
          </p:cNvPr>
          <p:cNvGrpSpPr/>
          <p:nvPr/>
        </p:nvGrpSpPr>
        <p:grpSpPr>
          <a:xfrm>
            <a:off x="198704" y="2111912"/>
            <a:ext cx="5806442" cy="3708596"/>
            <a:chOff x="638320" y="2111912"/>
            <a:chExt cx="5806442" cy="3708596"/>
          </a:xfrm>
        </p:grpSpPr>
        <p:sp>
          <p:nvSpPr>
            <p:cNvPr id="4" name="Shape 2"/>
            <p:cNvSpPr/>
            <p:nvPr/>
          </p:nvSpPr>
          <p:spPr>
            <a:xfrm>
              <a:off x="638320" y="2111912"/>
              <a:ext cx="5806442" cy="3708596"/>
            </a:xfrm>
            <a:prstGeom prst="roundRect">
              <a:avLst>
                <a:gd name="adj" fmla="val 2519"/>
              </a:avLst>
            </a:prstGeom>
            <a:solidFill>
              <a:srgbClr val="123B29"/>
            </a:solidFill>
            <a:ln/>
            <a:effectLst>
              <a:outerShdw blurRad="101600" dist="3810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5" name="Text 3"/>
            <p:cNvSpPr txBox="1"/>
            <p:nvPr/>
          </p:nvSpPr>
          <p:spPr>
            <a:xfrm>
              <a:off x="948209" y="2387565"/>
              <a:ext cx="3481084" cy="4410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700" b="1" dirty="0">
                  <a:solidFill>
                    <a:srgbClr val="C9A54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AI Agents</a:t>
              </a:r>
              <a:endParaRPr lang="en-US" sz="170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948209" y="2744904"/>
              <a:ext cx="5198582" cy="22433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buSzPct val="100000"/>
              </a:pPr>
              <a:r>
                <a:rPr lang="en-US" sz="1400" b="1" dirty="0" err="1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Expectiminimax</a:t>
              </a:r>
              <a:r>
                <a:rPr lang="en-US" sz="1400" dirty="0">
                  <a:solidFill>
                    <a:schemeClr val="bg1"/>
                  </a:solidFill>
                </a:rPr>
                <a:t> — Strategic game-tree search with chance and opponent reasoning.</a:t>
              </a:r>
            </a:p>
            <a:p>
              <a:pPr>
                <a:buSzPct val="100000"/>
              </a:pPr>
              <a:r>
                <a:rPr lang="en-US" sz="14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Random Agent </a:t>
              </a:r>
              <a:r>
                <a:rPr lang="en-US" sz="1400" dirty="0">
                  <a:solidFill>
                    <a:schemeClr val="bg1"/>
                  </a:solidFill>
                </a:rPr>
                <a:t>— Selects a legal action randomly.</a:t>
              </a:r>
            </a:p>
            <a:p>
              <a:pPr>
                <a:buSzPct val="100000"/>
              </a:pPr>
              <a:r>
                <a:rPr lang="en-US" sz="14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Call Station </a:t>
              </a:r>
              <a:r>
                <a:rPr lang="en-US" sz="1400" dirty="0">
                  <a:solidFill>
                    <a:schemeClr val="bg1"/>
                  </a:solidFill>
                </a:rPr>
                <a:t>— Always checks/calls and never raises or folds.</a:t>
              </a:r>
            </a:p>
            <a:p>
              <a:pPr>
                <a:buSzPct val="100000"/>
              </a:pPr>
              <a:r>
                <a:rPr lang="en-US" sz="1400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Tight-Aggressive</a:t>
              </a:r>
              <a:r>
                <a:rPr lang="en-US" sz="1400" dirty="0">
                  <a:solidFill>
                    <a:schemeClr val="bg1"/>
                  </a:solidFill>
                </a:rPr>
                <a:t> — Raises strong hands, calls medium hands, and folds weak hands.</a:t>
              </a:r>
            </a:p>
          </p:txBody>
        </p:sp>
      </p:grpSp>
      <p:sp>
        <p:nvSpPr>
          <p:cNvPr id="22" name="Text 2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2B30C73E-EB41-E432-71D6-B4064ABEAC70}"/>
              </a:ext>
            </a:extLst>
          </p:cNvPr>
          <p:cNvSpPr/>
          <p:nvPr/>
        </p:nvSpPr>
        <p:spPr>
          <a:xfrm>
            <a:off x="6217918" y="2111912"/>
            <a:ext cx="5806442" cy="3708596"/>
          </a:xfrm>
          <a:prstGeom prst="roundRect">
            <a:avLst>
              <a:gd name="adj" fmla="val 2519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D0E4F62F-82F6-B00A-96F6-6710604CC6DA}"/>
              </a:ext>
            </a:extLst>
          </p:cNvPr>
          <p:cNvSpPr txBox="1"/>
          <p:nvPr/>
        </p:nvSpPr>
        <p:spPr>
          <a:xfrm>
            <a:off x="6527807" y="2387565"/>
            <a:ext cx="3481084" cy="441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C9A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7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84C1B1BC-8CBB-1ED2-1E30-7194554EF5DC}"/>
              </a:ext>
            </a:extLst>
          </p:cNvPr>
          <p:cNvSpPr txBox="1"/>
          <p:nvPr/>
        </p:nvSpPr>
        <p:spPr>
          <a:xfrm>
            <a:off x="6527807" y="2744904"/>
            <a:ext cx="5198582" cy="2243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300 hands per AI matchup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 net chip performance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Measure runtime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Track nodes expanded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Test different search depths: 2, 4, 8 &amp; 20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Alternate player seats to reduce positional bias</a:t>
            </a: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7F47720-A4B9-DB1F-81A3-A7F095E2FDE0}"/>
              </a:ext>
            </a:extLst>
          </p:cNvPr>
          <p:cNvSpPr txBox="1"/>
          <p:nvPr/>
        </p:nvSpPr>
        <p:spPr>
          <a:xfrm>
            <a:off x="1920240" y="5959078"/>
            <a:ext cx="7962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C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Compare different playing strategies and evaluate the performance and computational cost of the AI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800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INTERACTIVE APPLICATION</a:t>
            </a:r>
          </a:p>
        </p:txBody>
      </p:sp>
      <p:sp>
        <p:nvSpPr>
          <p:cNvPr id="4" name="Shape 2"/>
          <p:cNvSpPr/>
          <p:nvPr/>
        </p:nvSpPr>
        <p:spPr>
          <a:xfrm>
            <a:off x="649224" y="1586131"/>
            <a:ext cx="5421338" cy="3453619"/>
          </a:xfrm>
          <a:prstGeom prst="roundRect">
            <a:avLst>
              <a:gd name="adj" fmla="val 3226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9" y="1804180"/>
            <a:ext cx="961784" cy="962653"/>
          </a:xfrm>
          <a:prstGeom prst="ellipse">
            <a:avLst/>
          </a:prstGeom>
          <a:solidFill>
            <a:srgbClr val="0F3225"/>
          </a:solidFill>
          <a:ln w="19050">
            <a:solidFill>
              <a:srgbClr val="C9A5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9" y="1814731"/>
            <a:ext cx="961784" cy="96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A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93876" y="2043332"/>
            <a:ext cx="3815075" cy="42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Four-Player Texas </a:t>
            </a:r>
            <a:r>
              <a:rPr lang="en-US" sz="1700" b="1" dirty="0" err="1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Hold’em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73353" y="2606041"/>
            <a:ext cx="3815075" cy="165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Human Player + 3 AI Opponents</a:t>
            </a:r>
          </a:p>
          <a:p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Aggressive strategy</a:t>
            </a:r>
          </a:p>
          <a:p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— Adaptive strategy</a:t>
            </a:r>
          </a:p>
          <a:p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— Cautious strategy</a:t>
            </a:r>
            <a:endParaRPr lang="en-US" sz="1400" b="1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D8CB5712-E29C-4448-6DC2-FA53E9B13D58}"/>
              </a:ext>
            </a:extLst>
          </p:cNvPr>
          <p:cNvSpPr/>
          <p:nvPr/>
        </p:nvSpPr>
        <p:spPr>
          <a:xfrm>
            <a:off x="6252032" y="1586131"/>
            <a:ext cx="5421338" cy="3453619"/>
          </a:xfrm>
          <a:prstGeom prst="roundRect">
            <a:avLst>
              <a:gd name="adj" fmla="val 3226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2FEF27D9-5BFC-953F-8CA9-7B3804B08914}"/>
              </a:ext>
            </a:extLst>
          </p:cNvPr>
          <p:cNvSpPr txBox="1"/>
          <p:nvPr/>
        </p:nvSpPr>
        <p:spPr>
          <a:xfrm>
            <a:off x="6312399" y="1945468"/>
            <a:ext cx="3293161" cy="427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</a:t>
            </a:r>
            <a:endParaRPr lang="en-US" sz="17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0A7EE9C-041D-CA38-55C1-0E12AC00B5FB}"/>
              </a:ext>
            </a:extLst>
          </p:cNvPr>
          <p:cNvSpPr txBox="1"/>
          <p:nvPr/>
        </p:nvSpPr>
        <p:spPr>
          <a:xfrm>
            <a:off x="7276161" y="2606041"/>
            <a:ext cx="4166030" cy="165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Call, Raise &amp; 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Cards and betting rounds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Evaluation and winner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&amp; Side Pot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decision-making during gameplay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chip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history &amp; session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</a:t>
            </a:r>
            <a:r>
              <a:rPr lang="en-US" sz="1400" b="1" dirty="0" err="1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1400" b="1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interface</a:t>
            </a:r>
            <a:endParaRPr lang="en-US" sz="1400" b="1" dirty="0"/>
          </a:p>
        </p:txBody>
      </p:sp>
      <p:sp>
        <p:nvSpPr>
          <p:cNvPr id="29" name="Shape 8"/>
          <p:cNvSpPr/>
          <p:nvPr/>
        </p:nvSpPr>
        <p:spPr>
          <a:xfrm>
            <a:off x="6362466" y="1783081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30" name="Text 9"/>
          <p:cNvSpPr txBox="1"/>
          <p:nvPr/>
        </p:nvSpPr>
        <p:spPr>
          <a:xfrm>
            <a:off x="6362466" y="1783081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30800AA-A69A-0415-9BE2-06588AD2A1A4}"/>
              </a:ext>
            </a:extLst>
          </p:cNvPr>
          <p:cNvSpPr txBox="1"/>
          <p:nvPr/>
        </p:nvSpPr>
        <p:spPr>
          <a:xfrm>
            <a:off x="2514932" y="5297097"/>
            <a:ext cx="7695068" cy="1142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Game → Deal Cards → Player/AI Actions → Community Cards → Showdown → Winner &amp; 	    Pot Distribution</a:t>
            </a:r>
          </a:p>
          <a:p>
            <a:r>
              <a:rPr lang="en-US" sz="14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with: Python + </a:t>
            </a:r>
            <a:r>
              <a:rPr lang="en-US" sz="1400" b="1" dirty="0" err="1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429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RESULT &amp; CONCLUSION</a:t>
            </a:r>
          </a:p>
        </p:txBody>
      </p:sp>
      <p:sp>
        <p:nvSpPr>
          <p:cNvPr id="6" name="Shape 4"/>
          <p:cNvSpPr/>
          <p:nvPr/>
        </p:nvSpPr>
        <p:spPr>
          <a:xfrm>
            <a:off x="548639" y="1943100"/>
            <a:ext cx="8366761" cy="1988820"/>
          </a:xfrm>
          <a:prstGeom prst="roundRect">
            <a:avLst>
              <a:gd name="adj" fmla="val 8421"/>
            </a:avLst>
          </a:prstGeom>
          <a:solidFill>
            <a:srgbClr val="0F3225"/>
          </a:solidFill>
          <a:ln w="12700">
            <a:solidFill>
              <a:srgbClr val="C9A5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2388" y="1579098"/>
            <a:ext cx="1598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E7C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Results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1" y="4343400"/>
            <a:ext cx="8437098" cy="1600200"/>
          </a:xfrm>
          <a:prstGeom prst="roundRect">
            <a:avLst>
              <a:gd name="adj" fmla="val 5714"/>
            </a:avLst>
          </a:prstGeom>
          <a:solidFill>
            <a:srgbClr val="123B29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572000"/>
            <a:ext cx="12397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914400" y="4737295"/>
            <a:ext cx="74910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demonstrates how AI can make strategic poker decisions by combining game-tree search, uncertainty handling, and multi-agent gameplay.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5FA324-6750-C59A-79E3-19EA235DC903}"/>
              </a:ext>
            </a:extLst>
          </p:cNvPr>
          <p:cNvSpPr txBox="1"/>
          <p:nvPr/>
        </p:nvSpPr>
        <p:spPr>
          <a:xfrm>
            <a:off x="777240" y="1990578"/>
            <a:ext cx="7927145" cy="1705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implemented a Leduc </a:t>
            </a:r>
            <a:r>
              <a:rPr lang="en-US" sz="12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Hold’em</a:t>
            </a: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game environment.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Developed an </a:t>
            </a:r>
            <a:r>
              <a:rPr lang="en-US" sz="12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Expectiminimax</a:t>
            </a: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 with MAX, MIN, and CHANCE nodes.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hidden-information reasoning and probabilistic card outcomes.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Alpha-Beta Pruning to optimize the game-tree search.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Developed multiple baseline agents for AI comparison.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 interactive four-player Texas </a:t>
            </a:r>
            <a:r>
              <a:rPr lang="en-US" sz="12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Hold’em</a:t>
            </a: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application using </a:t>
            </a:r>
            <a:r>
              <a:rPr lang="en-US" sz="1200" b="1" dirty="0" err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different AI playing styles: Atlas, Nova &amp; Echo.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betting, hand evaluation, pot management, showdown, and session tracking.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561320" y="77724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132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507492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607040" y="5166360"/>
            <a:ext cx="822960" cy="822960"/>
          </a:xfrm>
          <a:prstGeom prst="ellipse">
            <a:avLst/>
          </a:prstGeom>
          <a:solidFill>
            <a:srgbClr val="0F3225"/>
          </a:solidFill>
          <a:ln w="19050">
            <a:solidFill>
              <a:srgbClr val="1B5A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0" y="5166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0" y="265176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3EA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695</Words>
  <Application>Microsoft Office PowerPoint</Application>
  <PresentationFormat>Widescreen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Refat</cp:lastModifiedBy>
  <cp:revision>4</cp:revision>
  <dcterms:created xsi:type="dcterms:W3CDTF">2026-08-27T08:56:50Z</dcterms:created>
  <dcterms:modified xsi:type="dcterms:W3CDTF">2026-08-28T15:16:21Z</dcterms:modified>
</cp:coreProperties>
</file>